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Open Sans Bold" charset="1" panose="020B0806030504020204"/>
      <p:regular r:id="rId18"/>
    </p:embeddedFont>
    <p:embeddedFont>
      <p:font typeface="Roboto Bold" charset="1" panose="02000000000000000000"/>
      <p:regular r:id="rId19"/>
    </p:embeddedFont>
    <p:embeddedFont>
      <p:font typeface="Open Sans" charset="1" panose="020B060603050402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93892" y="0"/>
            <a:ext cx="16300215" cy="10432138"/>
          </a:xfrm>
          <a:custGeom>
            <a:avLst/>
            <a:gdLst/>
            <a:ahLst/>
            <a:cxnLst/>
            <a:rect r="r" b="b" t="t" l="l"/>
            <a:pathLst>
              <a:path h="10432138" w="16300215">
                <a:moveTo>
                  <a:pt x="0" y="0"/>
                </a:moveTo>
                <a:lnTo>
                  <a:pt x="16300216" y="0"/>
                </a:lnTo>
                <a:lnTo>
                  <a:pt x="16300216" y="10432138"/>
                </a:lnTo>
                <a:lnTo>
                  <a:pt x="0" y="104321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487" t="0" r="-1487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20" t="0" r="-152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1158" y="179131"/>
            <a:ext cx="17422829" cy="9511095"/>
          </a:xfrm>
          <a:custGeom>
            <a:avLst/>
            <a:gdLst/>
            <a:ahLst/>
            <a:cxnLst/>
            <a:rect r="r" b="b" t="t" l="l"/>
            <a:pathLst>
              <a:path h="9511095" w="17422829">
                <a:moveTo>
                  <a:pt x="0" y="0"/>
                </a:moveTo>
                <a:lnTo>
                  <a:pt x="17422829" y="0"/>
                </a:lnTo>
                <a:lnTo>
                  <a:pt x="17422829" y="9511096"/>
                </a:lnTo>
                <a:lnTo>
                  <a:pt x="0" y="95110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816553" y="8880995"/>
            <a:ext cx="7282049" cy="1206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8574" indent="-254287" lvl="1">
              <a:lnSpc>
                <a:spcPts val="3297"/>
              </a:lnSpc>
              <a:buFont typeface="Arial"/>
              <a:buChar char="•"/>
            </a:pPr>
            <a:r>
              <a:rPr lang="en-US" b="true" sz="2355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b="true" sz="2355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bservatorio de Movilidad y Seguridad Vial</a:t>
            </a:r>
          </a:p>
          <a:p>
            <a:pPr algn="l" marL="508574" indent="-254287" lvl="1">
              <a:lnSpc>
                <a:spcPts val="3297"/>
              </a:lnSpc>
              <a:buFont typeface="Arial"/>
              <a:buChar char="•"/>
            </a:pPr>
            <a:r>
              <a:rPr lang="en-US" b="true" sz="2355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Ministerio de Justicia y Seguridad</a:t>
            </a:r>
          </a:p>
          <a:p>
            <a:pPr algn="l" marL="508574" indent="-254287" lvl="1">
              <a:lnSpc>
                <a:spcPts val="3297"/>
              </a:lnSpc>
              <a:buFont typeface="Arial"/>
              <a:buChar char="•"/>
            </a:pPr>
            <a:r>
              <a:rPr lang="en-US" b="true" sz="2355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Sistema de Atención Médica de Emergencias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896166" y="3314445"/>
            <a:ext cx="1632842" cy="797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7"/>
              </a:lnSpc>
            </a:pPr>
            <a:r>
              <a:rPr lang="en-US" sz="2355" b="true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Victimas</a:t>
            </a:r>
          </a:p>
          <a:p>
            <a:pPr algn="l">
              <a:lnSpc>
                <a:spcPts val="3297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3000781" y="7337597"/>
            <a:ext cx="1632842" cy="387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7"/>
              </a:lnSpc>
            </a:pPr>
            <a:r>
              <a:rPr lang="en-US" sz="2355" b="true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Hechos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333469" y="2533221"/>
            <a:ext cx="4248216" cy="4799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7"/>
              </a:lnSpc>
            </a:pPr>
            <a:r>
              <a:rPr lang="en-US" sz="2855" b="true">
                <a:solidFill>
                  <a:srgbClr val="3D4D5D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Datos_integrados.csv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05992" y="-304441"/>
            <a:ext cx="11076017" cy="10591441"/>
          </a:xfrm>
          <a:custGeom>
            <a:avLst/>
            <a:gdLst/>
            <a:ahLst/>
            <a:cxnLst/>
            <a:rect r="r" b="b" t="t" l="l"/>
            <a:pathLst>
              <a:path h="10591441" w="11076017">
                <a:moveTo>
                  <a:pt x="0" y="0"/>
                </a:moveTo>
                <a:lnTo>
                  <a:pt x="11076016" y="0"/>
                </a:lnTo>
                <a:lnTo>
                  <a:pt x="11076016" y="10591441"/>
                </a:lnTo>
                <a:lnTo>
                  <a:pt x="0" y="105914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23355" y="0"/>
            <a:ext cx="14441289" cy="10361625"/>
          </a:xfrm>
          <a:custGeom>
            <a:avLst/>
            <a:gdLst/>
            <a:ahLst/>
            <a:cxnLst/>
            <a:rect r="r" b="b" t="t" l="l"/>
            <a:pathLst>
              <a:path h="10361625" w="14441289">
                <a:moveTo>
                  <a:pt x="0" y="0"/>
                </a:moveTo>
                <a:lnTo>
                  <a:pt x="14441290" y="0"/>
                </a:lnTo>
                <a:lnTo>
                  <a:pt x="14441290" y="10361625"/>
                </a:lnTo>
                <a:lnTo>
                  <a:pt x="0" y="103616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12033" y="0"/>
            <a:ext cx="16863934" cy="10287000"/>
          </a:xfrm>
          <a:custGeom>
            <a:avLst/>
            <a:gdLst/>
            <a:ahLst/>
            <a:cxnLst/>
            <a:rect r="r" b="b" t="t" l="l"/>
            <a:pathLst>
              <a:path h="10287000" w="16863934">
                <a:moveTo>
                  <a:pt x="0" y="0"/>
                </a:moveTo>
                <a:lnTo>
                  <a:pt x="16863934" y="0"/>
                </a:lnTo>
                <a:lnTo>
                  <a:pt x="1686393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487" t="0" r="-1487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2372"/>
            <a:ext cx="9952739" cy="5063456"/>
          </a:xfrm>
          <a:custGeom>
            <a:avLst/>
            <a:gdLst/>
            <a:ahLst/>
            <a:cxnLst/>
            <a:rect r="r" b="b" t="t" l="l"/>
            <a:pathLst>
              <a:path h="5063456" w="9952739">
                <a:moveTo>
                  <a:pt x="0" y="0"/>
                </a:moveTo>
                <a:lnTo>
                  <a:pt x="9952739" y="0"/>
                </a:lnTo>
                <a:lnTo>
                  <a:pt x="9952739" y="5063456"/>
                </a:lnTo>
                <a:lnTo>
                  <a:pt x="0" y="50634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952739" y="572372"/>
            <a:ext cx="8010794" cy="5096867"/>
          </a:xfrm>
          <a:custGeom>
            <a:avLst/>
            <a:gdLst/>
            <a:ahLst/>
            <a:cxnLst/>
            <a:rect r="r" b="b" t="t" l="l"/>
            <a:pathLst>
              <a:path h="5096867" w="8010794">
                <a:moveTo>
                  <a:pt x="0" y="0"/>
                </a:moveTo>
                <a:lnTo>
                  <a:pt x="8010794" y="0"/>
                </a:lnTo>
                <a:lnTo>
                  <a:pt x="8010794" y="5096867"/>
                </a:lnTo>
                <a:lnTo>
                  <a:pt x="0" y="50968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371860" y="7923481"/>
            <a:ext cx="11544279" cy="1979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b="true" sz="3799">
                <a:solidFill>
                  <a:srgbClr val="3D4D5D"/>
                </a:solidFill>
                <a:latin typeface="Roboto Bold"/>
                <a:ea typeface="Roboto Bold"/>
                <a:cs typeface="Roboto Bold"/>
                <a:sym typeface="Roboto Bold"/>
              </a:rPr>
              <a:t>Logra captar 1 caso mortal cada 3 alarmas, y</a:t>
            </a:r>
            <a:r>
              <a:rPr lang="en-US" b="true" sz="3799">
                <a:solidFill>
                  <a:srgbClr val="3D4D5D"/>
                </a:solidFill>
                <a:latin typeface="Roboto Bold"/>
                <a:ea typeface="Roboto Bold"/>
                <a:cs typeface="Roboto Bold"/>
                <a:sym typeface="Roboto Bold"/>
              </a:rPr>
              <a:t> detecta  el 87% de los casos mortales y asignar recursos adecuadamente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39398" y="5877693"/>
            <a:ext cx="9113341" cy="1012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6112" indent="-313056" lvl="1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3D4D5D"/>
                </a:solidFill>
                <a:latin typeface="Open Sans"/>
                <a:ea typeface="Open Sans"/>
                <a:cs typeface="Open Sans"/>
                <a:sym typeface="Open Sans"/>
              </a:rPr>
              <a:t>Umbral Undersampling: 0.033</a:t>
            </a:r>
          </a:p>
          <a:p>
            <a:pPr algn="l" marL="626112" indent="-313056" lvl="1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3D4D5D"/>
                </a:solidFill>
                <a:latin typeface="Open Sans"/>
                <a:ea typeface="Open Sans"/>
                <a:cs typeface="Open Sans"/>
                <a:sym typeface="Open Sans"/>
              </a:rPr>
              <a:t>Relacion Mortales/ No Mortales de 1.01% a 3.30%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033889" y="5877693"/>
            <a:ext cx="6504384" cy="1012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6112" indent="-313056" lvl="1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3D4D5D"/>
                </a:solidFill>
                <a:latin typeface="Open Sans"/>
                <a:ea typeface="Open Sans"/>
                <a:cs typeface="Open Sans"/>
                <a:sym typeface="Open Sans"/>
              </a:rPr>
              <a:t>Umbral Ponderacion Mortales: 0.4</a:t>
            </a:r>
          </a:p>
          <a:p>
            <a:pPr algn="l" marL="626112" indent="-313056" lvl="1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3D4D5D"/>
                </a:solidFill>
                <a:latin typeface="Open Sans"/>
                <a:ea typeface="Open Sans"/>
                <a:cs typeface="Open Sans"/>
                <a:sym typeface="Open Sans"/>
              </a:rPr>
              <a:t>Recall: 0.87 Precision: 0.34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487" t="0" r="-1487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17729" y="0"/>
            <a:ext cx="16652542" cy="10212848"/>
          </a:xfrm>
          <a:custGeom>
            <a:avLst/>
            <a:gdLst/>
            <a:ahLst/>
            <a:cxnLst/>
            <a:rect r="r" b="b" t="t" l="l"/>
            <a:pathLst>
              <a:path h="10212848" w="16652542">
                <a:moveTo>
                  <a:pt x="0" y="0"/>
                </a:moveTo>
                <a:lnTo>
                  <a:pt x="16652542" y="0"/>
                </a:lnTo>
                <a:lnTo>
                  <a:pt x="16652542" y="10212848"/>
                </a:lnTo>
                <a:lnTo>
                  <a:pt x="0" y="102128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93892" y="0"/>
            <a:ext cx="16300215" cy="10432138"/>
          </a:xfrm>
          <a:custGeom>
            <a:avLst/>
            <a:gdLst/>
            <a:ahLst/>
            <a:cxnLst/>
            <a:rect r="r" b="b" t="t" l="l"/>
            <a:pathLst>
              <a:path h="10432138" w="16300215">
                <a:moveTo>
                  <a:pt x="0" y="0"/>
                </a:moveTo>
                <a:lnTo>
                  <a:pt x="16300216" y="0"/>
                </a:lnTo>
                <a:lnTo>
                  <a:pt x="16300216" y="10432138"/>
                </a:lnTo>
                <a:lnTo>
                  <a:pt x="0" y="104321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DAHLeQ3AZ-Q</dc:identifier>
  <dcterms:modified xsi:type="dcterms:W3CDTF">2011-08-01T06:04:30Z</dcterms:modified>
  <cp:revision>1</cp:revision>
  <dc:title>M.O.T.H.E.R</dc:title>
</cp:coreProperties>
</file>