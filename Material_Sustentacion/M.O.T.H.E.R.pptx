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ns Bold" charset="1" panose="020B0806030504020204"/>
      <p:regular r:id="rId18"/>
    </p:embeddedFont>
    <p:embeddedFont>
      <p:font typeface="Roboto Bold" charset="1" panose="02000000000000000000"/>
      <p:regular r:id="rId19"/>
    </p:embeddedFont>
    <p:embeddedFont>
      <p:font typeface="Open Sans" charset="1" panose="020B0606030504020204"/>
      <p:regular r:id="rId20"/>
    </p:embeddedFont>
    <p:embeddedFont>
      <p:font typeface="League Spartan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3892" y="0"/>
            <a:ext cx="16300215" cy="10432138"/>
          </a:xfrm>
          <a:custGeom>
            <a:avLst/>
            <a:gdLst/>
            <a:ahLst/>
            <a:cxnLst/>
            <a:rect r="r" b="b" t="t" l="l"/>
            <a:pathLst>
              <a:path h="10432138" w="16300215">
                <a:moveTo>
                  <a:pt x="0" y="0"/>
                </a:moveTo>
                <a:lnTo>
                  <a:pt x="16300216" y="0"/>
                </a:lnTo>
                <a:lnTo>
                  <a:pt x="16300216" y="10432138"/>
                </a:lnTo>
                <a:lnTo>
                  <a:pt x="0" y="10432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16" t="0" r="-2816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83942" y="7219390"/>
            <a:ext cx="2102495" cy="79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7"/>
              </a:lnSpc>
            </a:pPr>
            <a:r>
              <a:rPr lang="en-US" b="true" sz="2355">
                <a:solidFill>
                  <a:srgbClr val="1D32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OPERADOR</a:t>
            </a:r>
          </a:p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b="true" sz="2355">
                <a:solidFill>
                  <a:srgbClr val="1D32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EMERGENCIAS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29923" y="7628965"/>
            <a:ext cx="2029867" cy="387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b="true" sz="2355">
                <a:solidFill>
                  <a:srgbClr val="1D32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AMBULANCIA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713797" y="6660417"/>
            <a:ext cx="2924919" cy="387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b="true" sz="2355">
                <a:solidFill>
                  <a:srgbClr val="1D32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ACCIDENTE CRITICO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20" t="0" r="-152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1158" y="179131"/>
            <a:ext cx="17422829" cy="9511095"/>
          </a:xfrm>
          <a:custGeom>
            <a:avLst/>
            <a:gdLst/>
            <a:ahLst/>
            <a:cxnLst/>
            <a:rect r="r" b="b" t="t" l="l"/>
            <a:pathLst>
              <a:path h="9511095" w="17422829">
                <a:moveTo>
                  <a:pt x="0" y="0"/>
                </a:moveTo>
                <a:lnTo>
                  <a:pt x="17422829" y="0"/>
                </a:lnTo>
                <a:lnTo>
                  <a:pt x="17422829" y="9511096"/>
                </a:lnTo>
                <a:lnTo>
                  <a:pt x="0" y="95110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816553" y="8880995"/>
            <a:ext cx="7282049" cy="1206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8574" indent="-254287" lvl="1">
              <a:lnSpc>
                <a:spcPts val="3297"/>
              </a:lnSpc>
              <a:buFont typeface="Arial"/>
              <a:buChar char="•"/>
            </a:pPr>
            <a:r>
              <a:rPr lang="en-US" b="true" sz="2355">
                <a:solidFill>
                  <a:srgbClr val="3D4D5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</a:t>
            </a:r>
            <a:r>
              <a:rPr lang="en-US" b="true" sz="2355">
                <a:solidFill>
                  <a:srgbClr val="3D4D5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bservatorio de Movilidad y Seguridad Vial</a:t>
            </a:r>
          </a:p>
          <a:p>
            <a:pPr algn="l" marL="508574" indent="-254287" lvl="1">
              <a:lnSpc>
                <a:spcPts val="3297"/>
              </a:lnSpc>
              <a:buFont typeface="Arial"/>
              <a:buChar char="•"/>
            </a:pPr>
            <a:r>
              <a:rPr lang="en-US" b="true" sz="2355">
                <a:solidFill>
                  <a:srgbClr val="3D4D5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Ministerio de Justicia y Seguridad</a:t>
            </a:r>
          </a:p>
          <a:p>
            <a:pPr algn="l" marL="508574" indent="-254287" lvl="1">
              <a:lnSpc>
                <a:spcPts val="3297"/>
              </a:lnSpc>
              <a:buFont typeface="Arial"/>
              <a:buChar char="•"/>
            </a:pPr>
            <a:r>
              <a:rPr lang="en-US" b="true" sz="2355">
                <a:solidFill>
                  <a:srgbClr val="3D4D5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Sistema de Atención Médica de Emergencias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96166" y="3314445"/>
            <a:ext cx="1632842" cy="797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355" b="true">
                <a:solidFill>
                  <a:srgbClr val="3D4D5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Victimas</a:t>
            </a:r>
          </a:p>
          <a:p>
            <a:pPr algn="l">
              <a:lnSpc>
                <a:spcPts val="329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3000781" y="7337597"/>
            <a:ext cx="1632842" cy="387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355" b="true">
                <a:solidFill>
                  <a:srgbClr val="3D4D5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Hechos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33469" y="2533221"/>
            <a:ext cx="4248216" cy="47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7"/>
              </a:lnSpc>
            </a:pPr>
            <a:r>
              <a:rPr lang="en-US" sz="2855" b="true">
                <a:solidFill>
                  <a:srgbClr val="3D4D5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Datos_integrados.csv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5176" y="-236694"/>
            <a:ext cx="10757647" cy="10287000"/>
          </a:xfrm>
          <a:custGeom>
            <a:avLst/>
            <a:gdLst/>
            <a:ahLst/>
            <a:cxnLst/>
            <a:rect r="r" b="b" t="t" l="l"/>
            <a:pathLst>
              <a:path h="10287000" w="10757647">
                <a:moveTo>
                  <a:pt x="0" y="0"/>
                </a:moveTo>
                <a:lnTo>
                  <a:pt x="10757648" y="0"/>
                </a:lnTo>
                <a:lnTo>
                  <a:pt x="1075764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82819"/>
            <a:ext cx="17222246" cy="10204181"/>
          </a:xfrm>
          <a:custGeom>
            <a:avLst/>
            <a:gdLst/>
            <a:ahLst/>
            <a:cxnLst/>
            <a:rect r="r" b="b" t="t" l="l"/>
            <a:pathLst>
              <a:path h="10204181" w="17222246">
                <a:moveTo>
                  <a:pt x="0" y="0"/>
                </a:moveTo>
                <a:lnTo>
                  <a:pt x="17222246" y="0"/>
                </a:lnTo>
                <a:lnTo>
                  <a:pt x="17222246" y="10204181"/>
                </a:lnTo>
                <a:lnTo>
                  <a:pt x="0" y="102041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73385"/>
            <a:ext cx="16249297" cy="9140229"/>
          </a:xfrm>
          <a:custGeom>
            <a:avLst/>
            <a:gdLst/>
            <a:ahLst/>
            <a:cxnLst/>
            <a:rect r="r" b="b" t="t" l="l"/>
            <a:pathLst>
              <a:path h="9140229" w="16249297">
                <a:moveTo>
                  <a:pt x="0" y="0"/>
                </a:moveTo>
                <a:lnTo>
                  <a:pt x="16249297" y="0"/>
                </a:lnTo>
                <a:lnTo>
                  <a:pt x="16249297" y="9140230"/>
                </a:lnTo>
                <a:lnTo>
                  <a:pt x="0" y="9140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87" t="0" r="-148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827092" y="5621985"/>
            <a:ext cx="1521397" cy="41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7"/>
              </a:lnSpc>
              <a:spcBef>
                <a:spcPct val="0"/>
              </a:spcBef>
            </a:pPr>
            <a:r>
              <a:rPr lang="en-US" b="true" sz="2462">
                <a:solidFill>
                  <a:srgbClr val="1D325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LightGBM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72372"/>
            <a:ext cx="9952739" cy="5063456"/>
          </a:xfrm>
          <a:custGeom>
            <a:avLst/>
            <a:gdLst/>
            <a:ahLst/>
            <a:cxnLst/>
            <a:rect r="r" b="b" t="t" l="l"/>
            <a:pathLst>
              <a:path h="5063456" w="9952739">
                <a:moveTo>
                  <a:pt x="0" y="0"/>
                </a:moveTo>
                <a:lnTo>
                  <a:pt x="9952739" y="0"/>
                </a:lnTo>
                <a:lnTo>
                  <a:pt x="9952739" y="5063456"/>
                </a:lnTo>
                <a:lnTo>
                  <a:pt x="0" y="5063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52739" y="572372"/>
            <a:ext cx="8010794" cy="5096867"/>
          </a:xfrm>
          <a:custGeom>
            <a:avLst/>
            <a:gdLst/>
            <a:ahLst/>
            <a:cxnLst/>
            <a:rect r="r" b="b" t="t" l="l"/>
            <a:pathLst>
              <a:path h="5096867" w="8010794">
                <a:moveTo>
                  <a:pt x="0" y="0"/>
                </a:moveTo>
                <a:lnTo>
                  <a:pt x="8010794" y="0"/>
                </a:lnTo>
                <a:lnTo>
                  <a:pt x="8010794" y="5096867"/>
                </a:lnTo>
                <a:lnTo>
                  <a:pt x="0" y="5096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71860" y="7923481"/>
            <a:ext cx="11544279" cy="1979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3D4D5D"/>
                </a:solidFill>
                <a:latin typeface="Roboto Bold"/>
                <a:ea typeface="Roboto Bold"/>
                <a:cs typeface="Roboto Bold"/>
                <a:sym typeface="Roboto Bold"/>
              </a:rPr>
              <a:t>Logra captar 1 caso mortal cada 3 alarmas, y</a:t>
            </a:r>
            <a:r>
              <a:rPr lang="en-US" b="true" sz="3799">
                <a:solidFill>
                  <a:srgbClr val="3D4D5D"/>
                </a:solidFill>
                <a:latin typeface="Roboto Bold"/>
                <a:ea typeface="Roboto Bold"/>
                <a:cs typeface="Roboto Bold"/>
                <a:sym typeface="Roboto Bold"/>
              </a:rPr>
              <a:t> detecta  el 87% de los casos mortales y asignar recursos adecuadamente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9398" y="5877693"/>
            <a:ext cx="9113341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D4D5D"/>
                </a:solidFill>
                <a:latin typeface="Open Sans"/>
                <a:ea typeface="Open Sans"/>
                <a:cs typeface="Open Sans"/>
                <a:sym typeface="Open Sans"/>
              </a:rPr>
              <a:t>Umbral Undersampling: 0.033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D4D5D"/>
                </a:solidFill>
                <a:latin typeface="Open Sans"/>
                <a:ea typeface="Open Sans"/>
                <a:cs typeface="Open Sans"/>
                <a:sym typeface="Open Sans"/>
              </a:rPr>
              <a:t>Relacion Mortales/ No Mortales de 1.01% a 3.30%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33889" y="5877693"/>
            <a:ext cx="6504384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D4D5D"/>
                </a:solidFill>
                <a:latin typeface="Open Sans"/>
                <a:ea typeface="Open Sans"/>
                <a:cs typeface="Open Sans"/>
                <a:sym typeface="Open Sans"/>
              </a:rPr>
              <a:t>Umbral Ponderacion Mortales: 0.4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3D4D5D"/>
                </a:solidFill>
                <a:latin typeface="Open Sans"/>
                <a:ea typeface="Open Sans"/>
                <a:cs typeface="Open Sans"/>
                <a:sym typeface="Open Sans"/>
              </a:rPr>
              <a:t>Recall: 0.87 Precision: 0.34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87" t="0" r="-148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09736" y="8413231"/>
            <a:ext cx="319384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sz="2700">
                <a:solidFill>
                  <a:srgbClr val="1D202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Reentrenamiento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7729" y="0"/>
            <a:ext cx="16652542" cy="10212848"/>
          </a:xfrm>
          <a:custGeom>
            <a:avLst/>
            <a:gdLst/>
            <a:ahLst/>
            <a:cxnLst/>
            <a:rect r="r" b="b" t="t" l="l"/>
            <a:pathLst>
              <a:path h="10212848" w="16652542">
                <a:moveTo>
                  <a:pt x="0" y="0"/>
                </a:moveTo>
                <a:lnTo>
                  <a:pt x="16652542" y="0"/>
                </a:lnTo>
                <a:lnTo>
                  <a:pt x="16652542" y="10212848"/>
                </a:lnTo>
                <a:lnTo>
                  <a:pt x="0" y="10212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3892" y="0"/>
            <a:ext cx="16300215" cy="10432138"/>
          </a:xfrm>
          <a:custGeom>
            <a:avLst/>
            <a:gdLst/>
            <a:ahLst/>
            <a:cxnLst/>
            <a:rect r="r" b="b" t="t" l="l"/>
            <a:pathLst>
              <a:path h="10432138" w="16300215">
                <a:moveTo>
                  <a:pt x="0" y="0"/>
                </a:moveTo>
                <a:lnTo>
                  <a:pt x="16300216" y="0"/>
                </a:lnTo>
                <a:lnTo>
                  <a:pt x="16300216" y="10432138"/>
                </a:lnTo>
                <a:lnTo>
                  <a:pt x="0" y="104321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DAHLeQ3AZ-Q</dc:identifier>
  <dcterms:modified xsi:type="dcterms:W3CDTF">2011-08-01T06:04:30Z</dcterms:modified>
  <cp:revision>1</cp:revision>
  <dc:title>M.O.T.H.E.R</dc:title>
</cp:coreProperties>
</file>